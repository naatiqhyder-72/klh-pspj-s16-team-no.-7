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257" r:id="rId4"/>
    <p:sldId id="261" r:id="rId5"/>
    <p:sldId id="268" r:id="rId6"/>
    <p:sldId id="269" r:id="rId7"/>
    <p:sldId id="270" r:id="rId8"/>
    <p:sldId id="271" r:id="rId9"/>
    <p:sldId id="258" r:id="rId10"/>
    <p:sldId id="259" r:id="rId11"/>
    <p:sldId id="260" r:id="rId12"/>
    <p:sldId id="263" r:id="rId13"/>
    <p:sldId id="264" r:id="rId14"/>
    <p:sldId id="265" r:id="rId15"/>
    <p:sldId id="266" r:id="rId16"/>
    <p:sldId id="277" r:id="rId17"/>
    <p:sldId id="267" r:id="rId18"/>
    <p:sldId id="278" r:id="rId19"/>
    <p:sldId id="279" r:id="rId20"/>
    <p:sldId id="26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Cinema Seat Booking System</a:t>
            </a:r>
            <a:br>
              <a:rPr lang="en-IN" dirty="0"/>
            </a:br>
            <a:r>
              <a:rPr lang="en-IN" dirty="0"/>
              <a:t>Team No: 7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tabLst>
                <a:tab pos="2743200" algn="l"/>
              </a:tabLst>
            </a:pPr>
            <a:r>
              <a:rPr lang="en-IN" dirty="0"/>
              <a:t>Meer Naatiq Hyder 	2620030257</a:t>
            </a:r>
            <a:endParaRPr lang="en-IN" dirty="0"/>
          </a:p>
          <a:p>
            <a:pPr>
              <a:tabLst>
                <a:tab pos="2743200" algn="l"/>
              </a:tabLst>
            </a:pPr>
            <a:r>
              <a:rPr lang="en-IN" dirty="0"/>
              <a:t>Sharantej Ram Gardasu 	2620030318</a:t>
            </a:r>
            <a:endParaRPr lang="en-IN" dirty="0"/>
          </a:p>
          <a:p>
            <a:pPr>
              <a:tabLst>
                <a:tab pos="2743200" algn="l"/>
              </a:tabLst>
            </a:pPr>
            <a:r>
              <a:rPr lang="en-IN" dirty="0"/>
              <a:t>Sankeerth 	2620030292</a:t>
            </a:r>
            <a:endParaRPr lang="en-IN" dirty="0"/>
          </a:p>
          <a:p>
            <a:r>
              <a:rPr dirty="0"/>
              <a:t>A Java Console Application | Problem Solving using Programming (Java) | Subject Code: 26SC1101E</a:t>
            </a:r>
            <a:endParaRPr lang="en-IN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00200"/>
            <a:ext cx="10607040" cy="4206240"/>
          </a:xfrm>
        </p:spPr>
        <p:txBody>
          <a:bodyPr wrap="square">
            <a:noAutofit/>
          </a:bodyPr>
          <a:lstStyle/>
          <a:p>
            <a:pPr>
              <a:spcBef>
                <a:spcPts val="1200"/>
              </a:spcBef>
            </a:pPr>
            <a:r>
              <a:rPr sz="1800" b="0"/>
              <a:t>The Cinema Seat Booking System is a menu-driven Java console application that automates seat reservation for a multi-movie cinema hall. Each movie's hall is modelled as a 5 × 8 seat matrix; users can view the live layout, book a seat by its label (for example B4), cancel it, and generate booking reports.</a:t>
            </a:r>
            <a:endParaRPr lang="en-IN"/>
          </a:p>
          <a:p>
            <a:pPr>
              <a:spcBef>
                <a:spcPts val="1200"/>
              </a:spcBef>
            </a:pPr>
            <a:r>
              <a:rPr sz="1800" b="0"/>
              <a:t>Row-wise pricing with a student discount, validation through a custom exception, and receipts saved to a text file make the system practical. Built with core Java only, it brings together variables, control flow, methods, recursion, arrays, OOP, exception handling, strings, file I/O, collections and streams from all six course modules.</a:t>
            </a:r>
            <a:endParaRPr sz="1800" b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00200"/>
            <a:ext cx="10607040" cy="4206240"/>
          </a:xfrm>
        </p:spPr>
        <p:txBody>
          <a:bodyPr wrap="square">
            <a:noAutofit/>
          </a:bodyPr>
          <a:lstStyle/>
          <a:p>
            <a:pPr>
              <a:spcBef>
                <a:spcPts val="1200"/>
              </a:spcBef>
            </a:pPr>
            <a:r>
              <a:rPr sz="1800" b="1"/>
              <a:t>Problem:</a:t>
            </a:r>
            <a:r>
              <a:rPr sz="1800" b="0"/>
              <a:t> manual seat booking (registers, counters) is slow and error-prone, and double bookings and wrong entries are common.</a:t>
            </a:r>
            <a:endParaRPr lang="en-IN"/>
          </a:p>
          <a:p>
            <a:pPr>
              <a:spcBef>
                <a:spcPts val="1200"/>
              </a:spcBef>
            </a:pPr>
            <a:r>
              <a:rPr sz="1800" b="1"/>
              <a:t>Need:</a:t>
            </a:r>
            <a:r>
              <a:rPr sz="1800" b="0"/>
              <a:t> customers and staff must see seat availability instantly and get a reliable receipt and total.</a:t>
            </a:r>
            <a:endParaRPr sz="1800" b="0"/>
          </a:p>
          <a:p>
            <a:pPr>
              <a:spcBef>
                <a:spcPts val="1200"/>
              </a:spcBef>
            </a:pPr>
            <a:r>
              <a:rPr sz="1800" b="1"/>
              <a:t>Aim:</a:t>
            </a:r>
            <a:r>
              <a:rPr sz="1800" b="0"/>
              <a:t> build a console application that shows live seat layout, books and cancels seats, and prevents double booking.</a:t>
            </a:r>
            <a:endParaRPr sz="1800" b="0"/>
          </a:p>
          <a:p>
            <a:pPr>
              <a:spcBef>
                <a:spcPts val="1200"/>
              </a:spcBef>
            </a:pPr>
            <a:r>
              <a:rPr sz="1800" b="1"/>
              <a:t>Robustness:</a:t>
            </a:r>
            <a:r>
              <a:rPr sz="1800" b="0"/>
              <a:t> invalid seats and wrong inputs must be handled gracefully without crashing.</a:t>
            </a:r>
            <a:endParaRPr sz="1800" b="0"/>
          </a:p>
          <a:p>
            <a:pPr>
              <a:spcBef>
                <a:spcPts val="1200"/>
              </a:spcBef>
            </a:pPr>
            <a:r>
              <a:rPr sz="1800" b="1"/>
              <a:t>Records:</a:t>
            </a:r>
            <a:r>
              <a:rPr sz="1800" b="0"/>
              <a:t> bookings are saved to a file and summarised per movie, using core Java only.</a:t>
            </a:r>
            <a:endParaRPr sz="1800" b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00200"/>
            <a:ext cx="6309360" cy="4206240"/>
          </a:xfrm>
        </p:spPr>
        <p:txBody>
          <a:bodyPr wrap="square">
            <a:noAutofit/>
          </a:bodyPr>
          <a:lstStyle/>
          <a:p>
            <a:pPr>
              <a:spcBef>
                <a:spcPts val="1000"/>
              </a:spcBef>
            </a:pPr>
            <a:r>
              <a:rPr sz="1600" b="0"/>
              <a:t>A menu-driven Java console application that lets a user book, cancel, and view seats for a movie show.</a:t>
            </a:r>
            <a:endParaRPr sz="1600" b="0"/>
          </a:p>
          <a:p>
            <a:pPr>
              <a:spcBef>
                <a:spcPts val="1000"/>
              </a:spcBef>
            </a:pPr>
            <a:r>
              <a:rPr sz="1600" b="0"/>
              <a:t>The cinema hall is modelled as a grid of seats, with each seat marked as available or booked.</a:t>
            </a:r>
            <a:endParaRPr sz="1600" b="0"/>
          </a:p>
          <a:p>
            <a:pPr>
              <a:spcBef>
                <a:spcPts val="1000"/>
              </a:spcBef>
            </a:pPr>
            <a:r>
              <a:rPr sz="1600" b="0"/>
              <a:t>Users interact through simple text prompts — choose a movie, pick a seat such as B4, confirm a booking.</a:t>
            </a:r>
            <a:endParaRPr sz="1600" b="0"/>
          </a:p>
          <a:p>
            <a:pPr>
              <a:spcBef>
                <a:spcPts val="1000"/>
              </a:spcBef>
            </a:pPr>
            <a:r>
              <a:rPr sz="1600" b="0"/>
              <a:t>The system prevents double booking by validating seat status before every confirmation.</a:t>
            </a:r>
            <a:endParaRPr sz="1600" b="0"/>
          </a:p>
          <a:p>
            <a:pPr>
              <a:spcBef>
                <a:spcPts val="1000"/>
              </a:spcBef>
            </a:pPr>
            <a:r>
              <a:rPr sz="1600" b="0"/>
              <a:t>Built entirely with core Java — no external libraries — to reinforce fundamental programming concepts.</a:t>
            </a:r>
            <a:endParaRPr sz="1600" b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</a:fld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589520" y="1737360"/>
            <a:ext cx="356616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SCREEN</a:t>
            </a:r>
            <a:endParaRPr sz="1200" b="1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69480" y="2286000"/>
            <a:ext cx="320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7F7F7F"/>
                </a:solidFill>
              </a:rPr>
              <a:t>A</a:t>
            </a:r>
            <a:endParaRPr sz="1100" b="0">
              <a:solidFill>
                <a:srgbClr val="7F7F7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35240" y="22860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74152" y="22860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13063" y="2286000"/>
            <a:ext cx="365760" cy="365760"/>
          </a:xfrm>
          <a:prstGeom prst="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51976" y="2286000"/>
            <a:ext cx="365760" cy="365760"/>
          </a:xfrm>
          <a:prstGeom prst="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90888" y="22860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29800" y="22860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68712" y="22860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07624" y="22860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2743200"/>
            <a:ext cx="320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7F7F7F"/>
                </a:solidFill>
              </a:rPr>
              <a:t>B</a:t>
            </a:r>
            <a:endParaRPr sz="1100" b="0">
              <a:solidFill>
                <a:srgbClr val="7F7F7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35240" y="2743200"/>
            <a:ext cx="365760" cy="365760"/>
          </a:xfrm>
          <a:prstGeom prst="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27432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13063" y="27432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27432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90888" y="2743200"/>
            <a:ext cx="365760" cy="365760"/>
          </a:xfrm>
          <a:prstGeom prst="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9800" y="27432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68712" y="27432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707624" y="27432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80" y="3200400"/>
            <a:ext cx="320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7F7F7F"/>
                </a:solidFill>
              </a:rPr>
              <a:t>C</a:t>
            </a:r>
            <a:endParaRPr sz="1100" b="0">
              <a:solidFill>
                <a:srgbClr val="7F7F7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3524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74152" y="3200400"/>
            <a:ext cx="365760" cy="365760"/>
          </a:xfrm>
          <a:prstGeom prst="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13063" y="3200400"/>
            <a:ext cx="365760" cy="365760"/>
          </a:xfrm>
          <a:prstGeom prst="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51976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90888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29800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68712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07624" y="32004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69480" y="3657600"/>
            <a:ext cx="320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7F7F7F"/>
                </a:solidFill>
              </a:rPr>
              <a:t>D</a:t>
            </a:r>
            <a:endParaRPr sz="1100" b="0">
              <a:solidFill>
                <a:srgbClr val="7F7F7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635240" y="3657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2" y="3657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13063" y="3657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51976" y="3657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0888" y="3657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29800" y="3657600"/>
            <a:ext cx="365760" cy="365760"/>
          </a:xfrm>
          <a:prstGeom prst="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68712" y="3657600"/>
            <a:ext cx="365760" cy="365760"/>
          </a:xfrm>
          <a:prstGeom prst="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707624" y="36576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69480" y="4114800"/>
            <a:ext cx="320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7F7F7F"/>
                </a:solidFill>
              </a:rPr>
              <a:t>E</a:t>
            </a:r>
            <a:endParaRPr sz="1100" b="0">
              <a:solidFill>
                <a:srgbClr val="7F7F7F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635240" y="4114800"/>
            <a:ext cx="365760" cy="365760"/>
          </a:xfrm>
          <a:prstGeom prst="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74152" y="41148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13063" y="41148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51976" y="41148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90888" y="41148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29800" y="41148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68712" y="411480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707624" y="4114800"/>
            <a:ext cx="365760" cy="365760"/>
          </a:xfrm>
          <a:prstGeom prst="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35240" y="475488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09560" y="4709160"/>
            <a:ext cx="1280160" cy="320040"/>
          </a:xfrm>
          <a:prstGeom prst="rect">
            <a:avLst/>
          </a:prstGeom>
          <a:noFill/>
        </p:spPr>
        <p:txBody>
          <a:bodyPr wrap="none" lIns="73152" rIns="73152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alibri" panose="020F0502020204030204"/>
              </a:rPr>
              <a:t>Available</a:t>
            </a:r>
            <a:endParaRPr sz="12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326880" y="4754880"/>
            <a:ext cx="228600" cy="228600"/>
          </a:xfrm>
          <a:prstGeom prst="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0" y="4709160"/>
            <a:ext cx="1280160" cy="320040"/>
          </a:xfrm>
          <a:prstGeom prst="rect">
            <a:avLst/>
          </a:prstGeom>
          <a:noFill/>
        </p:spPr>
        <p:txBody>
          <a:bodyPr wrap="none" lIns="73152" rIns="73152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alibri" panose="020F0502020204030204"/>
              </a:rPr>
              <a:t>Booked</a:t>
            </a:r>
            <a:endParaRPr sz="120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</a:fld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182880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Display</a:t>
            </a:r>
            <a:endParaRPr sz="1600" b="1">
              <a:solidFill>
                <a:srgbClr val="000000"/>
              </a:solidFill>
            </a:endParaRPr>
          </a:p>
          <a:p>
            <a:pPr algn="ctr"/>
            <a:r>
              <a:rPr sz="1600" b="0">
                <a:solidFill>
                  <a:srgbClr val="000000"/>
                </a:solidFill>
              </a:rPr>
              <a:t>Seat Layout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697479" y="3337560"/>
            <a:ext cx="274320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17520" y="2286000"/>
            <a:ext cx="457200" cy="45720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17520" y="2880360"/>
            <a:ext cx="182880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Select</a:t>
            </a:r>
            <a:endParaRPr sz="1600" b="1">
              <a:solidFill>
                <a:srgbClr val="000000"/>
              </a:solidFill>
            </a:endParaRPr>
          </a:p>
          <a:p>
            <a:pPr algn="ctr"/>
            <a:r>
              <a:rPr sz="1600" b="0">
                <a:solidFill>
                  <a:srgbClr val="000000"/>
                </a:solidFill>
              </a:rPr>
              <a:t>Movie &amp; Seat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892040" y="3337560"/>
            <a:ext cx="274320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12080" y="2286000"/>
            <a:ext cx="457200" cy="45720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212080" y="2880360"/>
            <a:ext cx="182880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Check</a:t>
            </a:r>
            <a:endParaRPr sz="1600" b="1">
              <a:solidFill>
                <a:srgbClr val="000000"/>
              </a:solidFill>
            </a:endParaRPr>
          </a:p>
          <a:p>
            <a:pPr algn="ctr"/>
            <a:r>
              <a:rPr sz="1600" b="0">
                <a:solidFill>
                  <a:srgbClr val="000000"/>
                </a:solidFill>
              </a:rPr>
              <a:t>Availability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7086600" y="3337560"/>
            <a:ext cx="274320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06640" y="2286000"/>
            <a:ext cx="457200" cy="45720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406640" y="2880360"/>
            <a:ext cx="182880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Confirm</a:t>
            </a:r>
            <a:endParaRPr sz="1600" b="1">
              <a:solidFill>
                <a:srgbClr val="000000"/>
              </a:solidFill>
            </a:endParaRPr>
          </a:p>
          <a:p>
            <a:pPr algn="ctr"/>
            <a:r>
              <a:rPr sz="1600" b="0">
                <a:solidFill>
                  <a:srgbClr val="000000"/>
                </a:solidFill>
              </a:rPr>
              <a:t>Booking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9281159" y="3337560"/>
            <a:ext cx="274320" cy="274320"/>
          </a:xfrm>
          <a:prstGeom prst="rightArrow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0" y="2286000"/>
            <a:ext cx="457200" cy="45720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601200" y="2880360"/>
            <a:ext cx="182880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Update &amp;</a:t>
            </a:r>
            <a:endParaRPr sz="1600" b="1">
              <a:solidFill>
                <a:srgbClr val="000000"/>
              </a:solidFill>
            </a:endParaRPr>
          </a:p>
          <a:p>
            <a:pPr algn="ctr"/>
            <a:r>
              <a:rPr sz="1600" b="0">
                <a:solidFill>
                  <a:srgbClr val="000000"/>
                </a:solidFill>
              </a:rPr>
              <a:t>Show Receipt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2960" y="4480560"/>
            <a:ext cx="10607040" cy="731520"/>
          </a:xfrm>
          <a:prstGeom prst="rect">
            <a:avLst/>
          </a:prstGeom>
          <a:noFill/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>
                <a:solidFill>
                  <a:srgbClr val="000000"/>
                </a:solidFill>
              </a:rPr>
              <a:t>The menu repeats in a loop (View / Book / Cancel / Report / Receipts / Exit) until the user chooses to quit.</a:t>
            </a:r>
            <a:endParaRPr sz="16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Algorithm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</a:fld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63040" y="1554480"/>
            <a:ext cx="99669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>
                <a:solidFill>
                  <a:srgbClr val="000000"/>
                </a:solidFill>
              </a:rPr>
              <a:t>Initialize a 2D char array for each movie — 'A' for available, 'X' for booked — and store them in a Map.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822960" y="2313432"/>
            <a:ext cx="457200" cy="45720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63040" y="2267712"/>
            <a:ext cx="99669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>
                <a:solidFill>
                  <a:srgbClr val="000000"/>
                </a:solidFill>
              </a:rPr>
              <a:t>Display the layout to the user by looping through the matrix rows and columns.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822960" y="3026664"/>
            <a:ext cx="457200" cy="45720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63040" y="2980944"/>
            <a:ext cx="99669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>
                <a:solidFill>
                  <a:srgbClr val="000000"/>
                </a:solidFill>
              </a:rPr>
              <a:t>Read the movie, name and seat label (e.g. B4) using Scanner, and validate the input.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22960" y="3739896"/>
            <a:ext cx="457200" cy="45720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463040" y="3694176"/>
            <a:ext cx="99669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>
                <a:solidFill>
                  <a:srgbClr val="000000"/>
                </a:solidFill>
              </a:rPr>
              <a:t>Check the seat: is halls.get(movie)[row][col] equal to 'A'? If not, throw SeatUnavailableException.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22960" y="4453128"/>
            <a:ext cx="457200" cy="45720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63040" y="4407408"/>
            <a:ext cx="99669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>
                <a:solidFill>
                  <a:srgbClr val="000000"/>
                </a:solidFill>
              </a:rPr>
              <a:t>If available, mark it 'X', compute the price (row-wise, student discount) and store a Booking receipt.</a:t>
            </a:r>
            <a:endParaRPr sz="1600" b="0">
              <a:solidFill>
                <a:srgbClr val="00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63040" y="5120640"/>
            <a:ext cx="99669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>
                <a:solidFill>
                  <a:srgbClr val="000000"/>
                </a:solidFill>
              </a:rPr>
              <a:t>Loop back to the menu (switch-case) until the user exits; on exit, save receipts to bookings.txt.</a:t>
            </a:r>
            <a:endParaRPr sz="16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</a:fld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651760" cy="7772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Presentation Layer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74720" y="1600200"/>
            <a:ext cx="7955279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000000"/>
                </a:solidFill>
              </a:rPr>
              <a:t>Console interface — Scanner input; printf / StringBuilder seat-map output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2011680" y="2386584"/>
            <a:ext cx="274320" cy="256032"/>
          </a:xfrm>
          <a:prstGeom prst="down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651760"/>
            <a:ext cx="2651760" cy="7772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Control Layer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74720" y="2651760"/>
            <a:ext cx="7955279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000000"/>
                </a:solidFill>
              </a:rPr>
              <a:t>main(): do-while menu loop, switch-case dispatch, try-catch input handling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2011680" y="3438144"/>
            <a:ext cx="274320" cy="256032"/>
          </a:xfrm>
          <a:prstGeom prst="down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703320"/>
            <a:ext cx="2651760" cy="7772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Logic Layer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74720" y="3703320"/>
            <a:ext cx="7955279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000000"/>
                </a:solidFill>
              </a:rPr>
              <a:t>bookSeat, cancelSeat, price (overloaded), freeSeats (recursive), showReport (streams)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2011680" y="4489704"/>
            <a:ext cx="274320" cy="256032"/>
          </a:xfrm>
          <a:prstGeom prst="down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754879"/>
            <a:ext cx="2651760" cy="7772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Data Layer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74720" y="4754879"/>
            <a:ext cx="7955279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000000"/>
                </a:solidFill>
              </a:rPr>
              <a:t>Map of char[][] seat matrices, List&lt;Booking&gt; history, bookings.txt receipts file</a:t>
            </a:r>
            <a:endParaRPr sz="15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1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00200"/>
            <a:ext cx="10607040" cy="4206240"/>
          </a:xfrm>
        </p:spPr>
        <p:txBody>
          <a:bodyPr wrap="square">
            <a:noAutofit/>
          </a:bodyPr>
          <a:lstStyle/>
          <a:p>
            <a:pPr marL="0" indent="0">
              <a:spcBef>
                <a:spcPts val="700"/>
              </a:spcBef>
              <a:buNone/>
            </a:pPr>
            <a:r>
              <a:rPr sz="1600" b="1">
                <a:solidFill>
                  <a:srgbClr val="9E1B32"/>
                </a:solidFill>
              </a:rPr>
              <a:t>Module 1 – From Problem to Program: Computational Thinking &amp; Java Foundations</a:t>
            </a:r>
            <a:endParaRPr lang="en-IN"/>
          </a:p>
          <a:p>
            <a:pPr>
              <a:spcBef>
                <a:spcPts val="700"/>
              </a:spcBef>
            </a:pPr>
            <a:r>
              <a:rPr sz="1600" b="1"/>
              <a:t>Problem solving:</a:t>
            </a:r>
            <a:r>
              <a:rPr sz="1600" b="0"/>
              <a:t> algorithm and flowchart for the booking flow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Java program structure:</a:t>
            </a:r>
            <a:r>
              <a:rPr sz="1600" b="0"/>
              <a:t> class CinemaSeatBooking with main() running on the JDK console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Data types, variables, constants:</a:t>
            </a:r>
            <a:r>
              <a:rPr sz="1600" b="0"/>
              <a:t> int ROWS, COLS, totalAmount; char seat status; boolean student; static final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Operators:</a:t>
            </a:r>
            <a:r>
              <a:rPr sz="1600" b="0"/>
              <a:t> arithmetic (+, *), relational (==, &lt;), logical (&amp;&amp;, ||), ternary (row &lt; 2 ? 250 : 150), unary (i++), compound (+=)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Typecasting:</a:t>
            </a:r>
            <a:r>
              <a:rPr sz="1600" b="0"/>
              <a:t> (int)(price * 0.9) for discount, (char)('A' + row) for row labels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Console I/O:</a:t>
            </a:r>
            <a:r>
              <a:rPr sz="1600" b="0"/>
              <a:t> Scanner.nextLine() for input, printf for formatted output</a:t>
            </a:r>
            <a:endParaRPr sz="1600" b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2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00200"/>
            <a:ext cx="10607040" cy="4206240"/>
          </a:xfrm>
        </p:spPr>
        <p:txBody>
          <a:bodyPr wrap="square">
            <a:noAutofit/>
          </a:bodyPr>
          <a:lstStyle/>
          <a:p>
            <a:pPr marL="0" indent="0">
              <a:spcBef>
                <a:spcPts val="700"/>
              </a:spcBef>
              <a:buNone/>
            </a:pPr>
            <a:r>
              <a:rPr sz="1600" b="1">
                <a:solidFill>
                  <a:srgbClr val="9E1B32"/>
                </a:solidFill>
              </a:rPr>
              <a:t>Module 2 – Control Flow: Selection &amp; Iteration</a:t>
            </a:r>
            <a:endParaRPr lang="en-IN"/>
          </a:p>
          <a:p>
            <a:pPr>
              <a:spcBef>
                <a:spcPts val="700"/>
              </a:spcBef>
            </a:pPr>
            <a:r>
              <a:rPr sz="1600" b="1"/>
              <a:t>if / else and nested conditions:</a:t>
            </a:r>
            <a:r>
              <a:rPr sz="1600" b="0"/>
              <a:t> seat available, already booked, or out of range (row &lt; 0 || row &gt;= ROWS ...)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switch with default and break:</a:t>
            </a:r>
            <a:r>
              <a:rPr sz="1600" b="0"/>
              <a:t> main menu — View, Book, Cancel, Report, Receipts, Exit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do-while loop:</a:t>
            </a:r>
            <a:r>
              <a:rPr sz="1600" b="0"/>
              <a:t> menu repeats until Exit; movie choice re-asked until valid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for loop:</a:t>
            </a:r>
            <a:r>
              <a:rPr sz="1600" b="0"/>
              <a:t> initialise seats, list movies, count free seats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Nested loops:</a:t>
            </a:r>
            <a:r>
              <a:rPr sz="1600" b="0"/>
              <a:t> traverse rows × columns of the seat matrix to build and print the layout</a:t>
            </a:r>
            <a:endParaRPr sz="1600" b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3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00200"/>
            <a:ext cx="10607040" cy="4206240"/>
          </a:xfrm>
        </p:spPr>
        <p:txBody>
          <a:bodyPr wrap="square">
            <a:noAutofit/>
          </a:bodyPr>
          <a:lstStyle/>
          <a:p>
            <a:pPr marL="0" indent="0">
              <a:spcBef>
                <a:spcPts val="700"/>
              </a:spcBef>
              <a:buNone/>
            </a:pPr>
            <a:r>
              <a:rPr sz="1600" b="1">
                <a:solidFill>
                  <a:srgbClr val="9E1B32"/>
                </a:solidFill>
              </a:rPr>
              <a:t>Module 3 – Decomposition with Methods, Recursion &amp; Arrays</a:t>
            </a:r>
            <a:endParaRPr lang="en-IN"/>
          </a:p>
          <a:p>
            <a:pPr>
              <a:spcBef>
                <a:spcPts val="700"/>
              </a:spcBef>
            </a:pPr>
            <a:r>
              <a:rPr sz="1600" b="1"/>
              <a:t>Modular programming:</a:t>
            </a:r>
            <a:r>
              <a:rPr sz="1600" b="0"/>
              <a:t> newHall, displaySeats, bookSeat, cancelSeat, showReport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Parameters and return values:</a:t>
            </a:r>
            <a:r>
              <a:rPr sz="1600" b="0"/>
              <a:t> bookSeat(...) returns a Booking; cancelSeat(...) returns boolean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Method overloading:</a:t>
            </a:r>
            <a:r>
              <a:rPr sz="1600" b="0"/>
              <a:t> price(int row) and price(int row, boolean student)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Recursion:</a:t>
            </a:r>
            <a:r>
              <a:rPr sz="1600" b="0"/>
              <a:t> freeSeats(h, row) — base case row == ROWS, recursive case adds the next row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Enhanced for-each:</a:t>
            </a:r>
            <a:r>
              <a:rPr sz="1600" b="0"/>
              <a:t> count free seats in a row; iterate over MOVIES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1D array:</a:t>
            </a:r>
            <a:r>
              <a:rPr sz="1600" b="0"/>
              <a:t> MOVIES[] and row traversal with counting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2D array:</a:t>
            </a:r>
            <a:r>
              <a:rPr sz="1600" b="0"/>
              <a:t> char[ROWS][COLS] seat matrix for every movie</a:t>
            </a:r>
            <a:endParaRPr sz="1600" b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4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00200"/>
            <a:ext cx="10607040" cy="4206240"/>
          </a:xfrm>
        </p:spPr>
        <p:txBody>
          <a:bodyPr wrap="square">
            <a:noAutofit/>
          </a:bodyPr>
          <a:lstStyle/>
          <a:p>
            <a:pPr marL="0" indent="0">
              <a:spcBef>
                <a:spcPts val="700"/>
              </a:spcBef>
              <a:buNone/>
            </a:pPr>
            <a:r>
              <a:rPr sz="1600" b="1" dirty="0">
                <a:solidFill>
                  <a:srgbClr val="9E1B32"/>
                </a:solidFill>
              </a:rPr>
              <a:t>Module 4 – Object-Oriented Modelling, Design &amp; Exception Handling</a:t>
            </a:r>
            <a:endParaRPr lang="en-IN" dirty="0"/>
          </a:p>
          <a:p>
            <a:pPr>
              <a:spcBef>
                <a:spcPts val="700"/>
              </a:spcBef>
            </a:pPr>
            <a:r>
              <a:rPr sz="1600" b="1" dirty="0"/>
              <a:t>Classes and objects:</a:t>
            </a:r>
            <a:r>
              <a:rPr sz="1600" b="0" dirty="0"/>
              <a:t> Booking is the blueprint; objects are created with new</a:t>
            </a:r>
            <a:endParaRPr sz="1600" b="0" dirty="0"/>
          </a:p>
          <a:p>
            <a:pPr>
              <a:spcBef>
                <a:spcPts val="700"/>
              </a:spcBef>
            </a:pPr>
            <a:r>
              <a:rPr sz="1600" b="1" dirty="0"/>
              <a:t>Constructor and this:</a:t>
            </a:r>
            <a:r>
              <a:rPr sz="1600" b="0" dirty="0"/>
              <a:t> parameterized constructor Booking(name, movie, row, col, amt)</a:t>
            </a:r>
            <a:endParaRPr sz="1600" b="0" dirty="0"/>
          </a:p>
          <a:p>
            <a:pPr>
              <a:spcBef>
                <a:spcPts val="700"/>
              </a:spcBef>
            </a:pPr>
            <a:r>
              <a:rPr sz="1600" b="1" dirty="0"/>
              <a:t>Encapsulation:</a:t>
            </a:r>
            <a:r>
              <a:rPr sz="1600" b="0" dirty="0"/>
              <a:t> private final fields with getters (</a:t>
            </a:r>
            <a:r>
              <a:rPr sz="1600" b="0" dirty="0" err="1"/>
              <a:t>getMovie</a:t>
            </a:r>
            <a:r>
              <a:rPr sz="1600" b="0" dirty="0"/>
              <a:t>, </a:t>
            </a:r>
            <a:r>
              <a:rPr sz="1600" b="0" dirty="0" err="1"/>
              <a:t>getAmount</a:t>
            </a:r>
            <a:r>
              <a:rPr sz="1600" b="0" dirty="0"/>
              <a:t>)</a:t>
            </a:r>
            <a:endParaRPr sz="1600" b="0" dirty="0"/>
          </a:p>
          <a:p>
            <a:pPr>
              <a:spcBef>
                <a:spcPts val="700"/>
              </a:spcBef>
            </a:pPr>
            <a:r>
              <a:rPr sz="1600" b="1" dirty="0"/>
              <a:t>static members:</a:t>
            </a:r>
            <a:r>
              <a:rPr sz="1600" b="0" dirty="0"/>
              <a:t> halls, history, </a:t>
            </a:r>
            <a:r>
              <a:rPr sz="1600" b="0" dirty="0" err="1"/>
              <a:t>totalAmount</a:t>
            </a:r>
            <a:r>
              <a:rPr sz="1600" b="0" dirty="0"/>
              <a:t>, ROWS and COLS shared by all methods</a:t>
            </a:r>
            <a:endParaRPr sz="1600" b="0" dirty="0"/>
          </a:p>
          <a:p>
            <a:pPr>
              <a:spcBef>
                <a:spcPts val="700"/>
              </a:spcBef>
            </a:pPr>
            <a:r>
              <a:rPr sz="1600" b="1" dirty="0" err="1"/>
              <a:t>toString</a:t>
            </a:r>
            <a:r>
              <a:rPr sz="1600" b="1" dirty="0"/>
              <a:t>():</a:t>
            </a:r>
            <a:r>
              <a:rPr sz="1600" b="0" dirty="0"/>
              <a:t> builds the receipt line shown on screen and saved to file</a:t>
            </a:r>
            <a:endParaRPr sz="1600" b="0" dirty="0"/>
          </a:p>
          <a:p>
            <a:pPr>
              <a:spcBef>
                <a:spcPts val="700"/>
              </a:spcBef>
            </a:pPr>
            <a:r>
              <a:rPr sz="1600" b="1" dirty="0"/>
              <a:t>Inheritance and interfaces:</a:t>
            </a:r>
            <a:r>
              <a:rPr sz="1600" b="0" dirty="0"/>
              <a:t> </a:t>
            </a:r>
            <a:r>
              <a:rPr sz="1600" b="0" dirty="0" err="1"/>
              <a:t>SeatUnavailableException</a:t>
            </a:r>
            <a:r>
              <a:rPr sz="1600" b="0" dirty="0"/>
              <a:t> extends Exception; Booking implements Comparable</a:t>
            </a:r>
            <a:endParaRPr sz="1600" b="0" dirty="0"/>
          </a:p>
          <a:p>
            <a:pPr>
              <a:spcBef>
                <a:spcPts val="700"/>
              </a:spcBef>
            </a:pPr>
            <a:r>
              <a:rPr sz="1600" b="1" dirty="0"/>
              <a:t>Exception handling:</a:t>
            </a:r>
            <a:r>
              <a:rPr sz="1600" b="0" dirty="0"/>
              <a:t> throw / throws, try-catch-finally, multi-catch (</a:t>
            </a:r>
            <a:r>
              <a:rPr sz="1600" b="0" dirty="0" err="1"/>
              <a:t>NumberFormatException</a:t>
            </a:r>
            <a:r>
              <a:rPr sz="1600" b="0" dirty="0"/>
              <a:t> | </a:t>
            </a:r>
            <a:r>
              <a:rPr sz="1600" b="0" dirty="0" err="1"/>
              <a:t>StringIndexOutOfBoundsException</a:t>
            </a:r>
            <a:r>
              <a:rPr sz="1600" b="0" dirty="0"/>
              <a:t>)</a:t>
            </a:r>
            <a:endParaRPr sz="1600" b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5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00200"/>
            <a:ext cx="10607040" cy="4206240"/>
          </a:xfrm>
        </p:spPr>
        <p:txBody>
          <a:bodyPr wrap="square">
            <a:noAutofit/>
          </a:bodyPr>
          <a:lstStyle/>
          <a:p>
            <a:pPr marL="0" indent="0">
              <a:spcBef>
                <a:spcPts val="700"/>
              </a:spcBef>
              <a:buNone/>
            </a:pPr>
            <a:r>
              <a:rPr sz="1600" b="1">
                <a:solidFill>
                  <a:srgbClr val="9E1B32"/>
                </a:solidFill>
              </a:rPr>
              <a:t>Module 5 – Strings, Library Algorithms &amp; File I/O</a:t>
            </a:r>
            <a:endParaRPr lang="en-IN"/>
          </a:p>
          <a:p>
            <a:pPr>
              <a:spcBef>
                <a:spcPts val="700"/>
              </a:spcBef>
            </a:pPr>
            <a:r>
              <a:rPr sz="1600" b="1"/>
              <a:t>String operations:</a:t>
            </a:r>
            <a:r>
              <a:rPr sz="1600" b="0"/>
              <a:t> trim(), toUpperCase(), charAt(), substring() to parse a seat label like B4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equals() vs ==:</a:t>
            </a:r>
            <a:r>
              <a:rPr sz="1600" b="0"/>
              <a:t> movie.equals(...) and equalsIgnoreCase("y") compare values, not references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StringBuilder and format:</a:t>
            </a:r>
            <a:r>
              <a:rPr sz="1600" b="0"/>
              <a:t> StringBuilder builds the seat map; String.format builds receipts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Sorting with Comparable:</a:t>
            </a:r>
            <a:r>
              <a:rPr sz="1600" b="0"/>
              <a:t> sorted() orders bookings by amount using Booking.compareTo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File I/O (java.nio.file):</a:t>
            </a:r>
            <a:r>
              <a:rPr sz="1600" b="0"/>
              <a:t> Files.write() saves receipts; Files.newBufferedReader() reads them back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try-with-resources:</a:t>
            </a:r>
            <a:r>
              <a:rPr sz="1600" b="0"/>
              <a:t> BufferedReader closed automatically; IOException handles a missing file</a:t>
            </a:r>
            <a:endParaRPr sz="1600" b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6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00200"/>
            <a:ext cx="10607040" cy="4206240"/>
          </a:xfrm>
        </p:spPr>
        <p:txBody>
          <a:bodyPr wrap="square">
            <a:noAutofit/>
          </a:bodyPr>
          <a:lstStyle/>
          <a:p>
            <a:pPr marL="0" indent="0">
              <a:spcBef>
                <a:spcPts val="700"/>
              </a:spcBef>
              <a:buNone/>
            </a:pPr>
            <a:r>
              <a:rPr sz="1600" b="1">
                <a:solidFill>
                  <a:srgbClr val="9E1B32"/>
                </a:solidFill>
              </a:rPr>
              <a:t>Module 6 – Functional Programming with Collections &amp; Streams</a:t>
            </a:r>
            <a:endParaRPr lang="en-IN"/>
          </a:p>
          <a:p>
            <a:pPr>
              <a:spcBef>
                <a:spcPts val="700"/>
              </a:spcBef>
            </a:pPr>
            <a:r>
              <a:rPr sz="1600" b="1"/>
              <a:t>Collections:</a:t>
            </a:r>
            <a:r>
              <a:rPr sz="1600" b="0"/>
              <a:t> ArrayList&lt;Booking&gt; for history; LinkedHashMap&lt;String, char[][]&gt; for halls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Generics:</a:t>
            </a:r>
            <a:r>
              <a:rPr sz="1600" b="0"/>
              <a:t> typed List&lt;Booking&gt; and Map&lt;String, char[][]&gt; give compile-time type safety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Lambda expressions:</a:t>
            </a:r>
            <a:r>
              <a:rPr sz="1600" b="0"/>
              <a:t> removeIf(b -&gt; ...) to cancel a booking; forEach((m, n) -&gt; ...)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Method references:</a:t>
            </a:r>
            <a:r>
              <a:rPr sz="1600" b="0"/>
              <a:t> Booking::getAmount, Booking::toString, System.out::println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Stream pipelines:</a:t>
            </a:r>
            <a:r>
              <a:rPr sz="1600" b="0"/>
              <a:t> sorted, map, mapToInt().sum(), collect, forEach on the booking list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Collectors:</a:t>
            </a:r>
            <a:r>
              <a:rPr sz="1600" b="0"/>
              <a:t> groupingBy + counting (seats per movie), joining (report), toList</a:t>
            </a:r>
            <a:endParaRPr sz="1600" b="0"/>
          </a:p>
          <a:p>
            <a:pPr>
              <a:spcBef>
                <a:spcPts val="700"/>
              </a:spcBef>
            </a:pPr>
            <a:r>
              <a:rPr sz="1600" b="1"/>
              <a:t>File lines as a stream:</a:t>
            </a:r>
            <a:r>
              <a:rPr sz="1600" b="0"/>
              <a:t> br.lines().forEach(...) when viewing saved receipts</a:t>
            </a:r>
            <a:endParaRPr sz="1600" b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00200"/>
            <a:ext cx="10607040" cy="4206240"/>
          </a:xfrm>
        </p:spPr>
        <p:txBody>
          <a:bodyPr wrap="square">
            <a:noAutofit/>
          </a:bodyPr>
          <a:lstStyle/>
          <a:p>
            <a:pPr>
              <a:spcBef>
                <a:spcPts val="800"/>
              </a:spcBef>
            </a:pPr>
            <a:r>
              <a:rPr sz="1600" b="0"/>
              <a:t>The Cinema Seat Booking System demonstrates how core Java concepts — variables, operators, control flow, loops, methods, arrays, OOP, exceptions, file I/O and streams — combine into a complete, working, menu-driven console application.</a:t>
            </a:r>
            <a:endParaRPr lang="en-IN"/>
          </a:p>
          <a:p>
            <a:pPr>
              <a:spcBef>
                <a:spcPts val="800"/>
              </a:spcBef>
            </a:pPr>
            <a:r>
              <a:rPr sz="1600" b="0"/>
              <a:t>Models a real-world scenario (booking a cinema seat) using 2D arrays as seat maps.</a:t>
            </a:r>
            <a:endParaRPr sz="1600" b="0"/>
          </a:p>
          <a:p>
            <a:pPr>
              <a:spcBef>
                <a:spcPts val="800"/>
              </a:spcBef>
            </a:pPr>
            <a:r>
              <a:rPr sz="1600" b="0"/>
              <a:t>Uses modular, reusable methods to keep booking, cancellation, display and reporting organized.</a:t>
            </a:r>
            <a:endParaRPr sz="1600" b="0"/>
          </a:p>
          <a:p>
            <a:pPr>
              <a:spcBef>
                <a:spcPts val="800"/>
              </a:spcBef>
            </a:pPr>
            <a:r>
              <a:rPr sz="1600" b="0"/>
              <a:t>Validates every action with conditional checks and exceptions, preventing invalid or duplicate bookings.</a:t>
            </a:r>
            <a:endParaRPr sz="1600" b="0"/>
          </a:p>
          <a:p>
            <a:pPr>
              <a:spcBef>
                <a:spcPts val="800"/>
              </a:spcBef>
            </a:pPr>
            <a:r>
              <a:rPr sz="1600" b="0"/>
              <a:t>Stores receipts in a file and summarises sales with streams.</a:t>
            </a:r>
            <a:endParaRPr sz="1600" b="0"/>
          </a:p>
          <a:p>
            <a:pPr>
              <a:spcBef>
                <a:spcPts val="800"/>
              </a:spcBef>
            </a:pPr>
            <a:r>
              <a:rPr sz="1600" b="0"/>
              <a:t>Runs entirely on core Java and provides an extensible base for a GUI or database-backed application.</a:t>
            </a:r>
            <a:endParaRPr sz="1600" b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00200"/>
            <a:ext cx="10607040" cy="4206240"/>
          </a:xfrm>
        </p:spPr>
        <p:txBody>
          <a:bodyPr wrap="square">
            <a:noAutofit/>
          </a:bodyPr>
          <a:lstStyle/>
          <a:p>
            <a:pPr>
              <a:spcBef>
                <a:spcPts val="1200"/>
              </a:spcBef>
            </a:pPr>
            <a:r>
              <a:rPr sz="1800" b="1"/>
              <a:t>GUI front end:</a:t>
            </a:r>
            <a:r>
              <a:rPr sz="1800" b="0"/>
              <a:t> JavaFX or Swing seat map with clickable seats instead of the console</a:t>
            </a:r>
            <a:endParaRPr sz="1800" b="0"/>
          </a:p>
          <a:p>
            <a:pPr>
              <a:spcBef>
                <a:spcPts val="1200"/>
              </a:spcBef>
            </a:pPr>
            <a:r>
              <a:rPr sz="1800" b="1"/>
              <a:t>Database:</a:t>
            </a:r>
            <a:r>
              <a:rPr sz="1800" b="0"/>
              <a:t> replace the text file with MySQL through JDBC for reliable storage</a:t>
            </a:r>
            <a:endParaRPr sz="1800" b="0"/>
          </a:p>
          <a:p>
            <a:pPr>
              <a:spcBef>
                <a:spcPts val="1200"/>
              </a:spcBef>
            </a:pPr>
            <a:r>
              <a:rPr sz="1800" b="1"/>
              <a:t>User accounts:</a:t>
            </a:r>
            <a:r>
              <a:rPr sz="1800" b="0"/>
              <a:t> login with customer and admin roles, booking history per user</a:t>
            </a:r>
            <a:endParaRPr sz="1800" b="0"/>
          </a:p>
          <a:p>
            <a:pPr>
              <a:spcBef>
                <a:spcPts val="1200"/>
              </a:spcBef>
            </a:pPr>
            <a:r>
              <a:rPr sz="1800" b="1"/>
              <a:t>Payments and e-tickets:</a:t>
            </a:r>
            <a:r>
              <a:rPr sz="1800" b="0"/>
              <a:t> online payment and QR-code tickets</a:t>
            </a:r>
            <a:endParaRPr sz="1800" b="0"/>
          </a:p>
          <a:p>
            <a:pPr>
              <a:spcBef>
                <a:spcPts val="1200"/>
              </a:spcBef>
            </a:pPr>
            <a:r>
              <a:rPr sz="1800" b="1"/>
              <a:t>Richer halls:</a:t>
            </a:r>
            <a:r>
              <a:rPr sz="1800" b="0"/>
              <a:t> multiple screens, show timings, and seat types such as recliner or couple seats</a:t>
            </a:r>
            <a:endParaRPr sz="1800" b="0"/>
          </a:p>
          <a:p>
            <a:pPr>
              <a:spcBef>
                <a:spcPts val="1200"/>
              </a:spcBef>
            </a:pPr>
            <a:r>
              <a:rPr sz="1800" b="1"/>
              <a:t>Concurrency:</a:t>
            </a:r>
            <a:r>
              <a:rPr sz="1800" b="0"/>
              <a:t> thread-safe booking so two users cannot take the same seat at once</a:t>
            </a:r>
            <a:endParaRPr sz="1800" b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</a:fld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</a:t>
            </a:r>
            <a:endParaRPr lang="en-IN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1485265"/>
            <a:ext cx="12069445" cy="523684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915" y="1825625"/>
            <a:ext cx="11708130" cy="489648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4015" y="1825625"/>
            <a:ext cx="11528425" cy="482028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GitHub link: </a:t>
            </a:r>
            <a:br>
              <a:rPr lang="en-US" altLang="en-US"/>
            </a:br>
            <a:r>
              <a:rPr lang="en-US" altLang="en-US"/>
              <a:t>https://github.com/naatiqhyder-72/KLH-PSPJ-S16-TEAM-No.-7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8008</Words>
  <Application>WPS Presentation</Application>
  <PresentationFormat>Widescreen</PresentationFormat>
  <Paragraphs>279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Aptos Display</vt:lpstr>
      <vt:lpstr>Segoe UI Variable Display</vt:lpstr>
      <vt:lpstr>Aptos</vt:lpstr>
      <vt:lpstr>Segoe UI</vt:lpstr>
      <vt:lpstr>Microsoft YaHei</vt:lpstr>
      <vt:lpstr>Arial Unicode MS</vt:lpstr>
      <vt:lpstr>Office Theme</vt:lpstr>
      <vt:lpstr>Cinema Seat Booking System Team No: 7</vt:lpstr>
      <vt:lpstr>Abstract</vt:lpstr>
      <vt:lpstr>Understanding Problem Statement</vt:lpstr>
      <vt:lpstr>Project Overview</vt:lpstr>
      <vt:lpstr>How the System Works</vt:lpstr>
      <vt:lpstr>Booking Algorithm</vt:lpstr>
      <vt:lpstr>System Architecture</vt:lpstr>
      <vt:lpstr>CO 1 Topics</vt:lpstr>
      <vt:lpstr>CO 2 Topics</vt:lpstr>
      <vt:lpstr>CO 3 Topics</vt:lpstr>
      <vt:lpstr>CO 4 Topics</vt:lpstr>
      <vt:lpstr>CO 5 Topics</vt:lpstr>
      <vt:lpstr>CO 6 Topics</vt:lpstr>
      <vt:lpstr>Conclusion</vt:lpstr>
      <vt:lpstr>Future Scope</vt:lpstr>
      <vt:lpstr>Screen Shots</vt:lpstr>
      <vt:lpstr>PowerPoint 演示文稿</vt:lpstr>
      <vt:lpstr>PowerPoint 演示文稿</vt:lpstr>
      <vt:lpstr>Geo Tag Photo and git hub link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Admin</cp:lastModifiedBy>
  <cp:revision>4</cp:revision>
  <dcterms:created xsi:type="dcterms:W3CDTF">2026-09-15T09:57:00Z</dcterms:created>
  <dcterms:modified xsi:type="dcterms:W3CDTF">2026-10-16T07:55:20Z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E245369621C24F2B83C927BABF96C9F4_12</vt:lpwstr>
  </property>
</Properties>
</file>